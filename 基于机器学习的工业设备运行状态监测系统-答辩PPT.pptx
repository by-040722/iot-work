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好，我是XXX，今天我答辩的题目是基于机器学习的工业设备运行状态监测系统。这个系统主要是模拟工业场景下，用机器学习算法自动监测设备运行状态，识别异常，覆盖了智能感知、特征工程、机器学习、异常检测四个技术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现在工业现场设备很多，传统巡检靠人，效率低还容易漏。我们这个系统就是模拟设备运行数据，用机器学习自动判断设备状态，有问题及时预警，不用人一直盯着。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系统分三层：最上面是表现层，有浏览器和桌面客户端两种；中间是业务层，Flask后端跑所有算法和接口；最下面是数据层，用SQLite存数据。两种客户端调用同一套接口，数据完全互通。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覆盖了四个课程技术方向：首先是信号处理，做小波降噪、频谱分析；然后是特征提取，一共提了41维多域特征；第三是机器学习，支持5种模型做状态分类；第四是异常检测，做SPC控制图和健康度评分，满足课程要求的至少3个技术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系统同时提供两种客户端：B/S端打开浏览器就能用，适合答辩演示；C/S端是桌面程序，适合现场长期用。两种客户端调用同一套后端接口，数据完全互通，体现了前后端分离的体系结构。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是根据工业设备振动特征模拟生成的，一共1200条样本，分正常、预警、异常三类。技术路线就是先生成数据，然后做预处理和特征提取，训练机器学习模型，再做异常检测和健康度评估，最后在两种客户端上展示结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项目最终完成了完整的双客户端系统，覆盖4个技术方向，接口和文档都齐全。后续可以接入真实工业数据，尝试深度学习方法，部署到云服务器实现远程访问。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我的汇报完毕，感谢各位老师聆听，敬请老师批评指正。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1E3C7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E3C7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基于机器学习的工业设备运行状态监测系统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556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制造智能技术课程设计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28647">
            <a:off x="1016026" y="4311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1E3C7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016000" y="4826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5334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3C7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研究背景与意义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517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1E3C7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20320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3C46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工业现场大量旋转设备（电机、风机、泵等）的运行状态直接影响生产安全与效率。传统人工巡检效率低、滞后性强，难以及时发现早期异常。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683000"/>
            <a:ext cx="10160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3C46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本项目通过模拟工业设备运行振动数据，结合信号处理与机器学习技术，实现设备运行状态的自动识别与异常预警，覆盖课程要求的多个技术方向，形成完整可运行的B/S+C/S双客户端系统。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3C7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系统总体架构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517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1E3C7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524000" y="2159000"/>
            <a:ext cx="9144000" cy="889000"/>
          </a:xfrm>
          <a:prstGeom prst="roundRect">
            <a:avLst>
              <a:gd name="adj" fmla="val 11428"/>
            </a:avLst>
          </a:prstGeom>
          <a:solidFill>
            <a:srgbClr val="1E3C7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524000" y="2349500"/>
            <a:ext cx="914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C7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表现层：B/S 浏览器端 + C/S 桌面客户端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24000" y="3429000"/>
            <a:ext cx="9144000" cy="889000"/>
          </a:xfrm>
          <a:prstGeom prst="roundRect">
            <a:avLst>
              <a:gd name="adj" fmla="val 11428"/>
            </a:avLst>
          </a:prstGeom>
          <a:solidFill>
            <a:srgbClr val="1E3C7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524000" y="3619500"/>
            <a:ext cx="914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C7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业务层：Flask 后端服务 + RESTful API + 算法模块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4699000"/>
            <a:ext cx="9144000" cy="889000"/>
          </a:xfrm>
          <a:prstGeom prst="roundRect">
            <a:avLst>
              <a:gd name="adj" fmla="val 11428"/>
            </a:avLst>
          </a:prstGeom>
          <a:solidFill>
            <a:srgbClr val="1E3C7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524000" y="4889500"/>
            <a:ext cx="914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C7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数据层：SQLite 数据库 + 模拟设备运行数据集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3C7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核心技术与功能模块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517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1E3C7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016000" y="2032000"/>
          <a:ext cx="10160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/>
                <a:gridCol w="7620000"/>
              </a:tblGrid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技术方向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实现内容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</a:tr>
              <a:tr h="762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智能检测与诊断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小波降噪、FFT频谱分析、包络分析、带通滤波信号预处理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62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特征工程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时域16维 + 频域13维 + 时频域9维 + 包络谱3维，共41维特征提取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62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机器学习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支持随机森林/SVM/KNN/GBDT/决策树5种模型训练对比与状态分类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62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异常检测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SPC控制图监控、孤立森林异常评分、设备健康度评估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3C7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B/S 与 C/S 双客户端架构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517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1E3C7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016000" y="2032000"/>
          <a:ext cx="10160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/>
                <a:gridCol w="3810000"/>
                <a:gridCol w="3810000"/>
              </a:tblGrid>
              <a:tr h="546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对比项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B/S 浏览器端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C/S 桌面客户端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</a:tr>
              <a:tr h="749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使用方式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浏览器打开即用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tkinter 桌面程序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9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适用场景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远程访问、演示答辩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本地工位长期使用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9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维护成本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升级只改服务器端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升级需更新客户端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62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交互能力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网页可视化丰富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原生桌面响应快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3C7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数据资源与技术路线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517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1E3C7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2032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1" i="0" u="none" strike="noStrike">
                <a:solidFill>
                  <a:srgbClr val="3C46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数据集：</a:t>
            </a:r>
            <a:r>
              <a:rPr lang="en-US" sz="1600" b="0" i="0" u="none" strike="noStrike">
                <a:solidFill>
                  <a:srgbClr val="3C46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基于工业设备运行振动特征生成模拟数据集，共3类状态（正常/预警/异常）× 400条 = 1200条样本，每条1024个采样点，采样率12000Hz。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556000"/>
            <a:ext cx="1016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3C46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技术路线：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3C46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模拟生成设备运行数据集</a:t>
            </a:r>
            <a:endParaRPr lang="en-US" sz="1600" b="0" i="0" u="none" strike="noStrike">
              <a:solidFill>
                <a:srgbClr val="3C46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3C46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信号预处理与特征提取</a:t>
            </a:r>
            <a:endParaRPr lang="en-US" sz="1600" b="0" i="0" u="none" strike="noStrike">
              <a:solidFill>
                <a:srgbClr val="3C46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3C46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机器学习模型训练与对比</a:t>
            </a:r>
            <a:endParaRPr lang="en-US" sz="1600" b="0" i="0" u="none" strike="noStrike">
              <a:solidFill>
                <a:srgbClr val="3C46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3C46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异常检测与健康度评估</a:t>
            </a:r>
            <a:endParaRPr lang="en-US" sz="1600" b="0" i="0" u="none" strike="noStrike">
              <a:solidFill>
                <a:srgbClr val="3C46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3C46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5. 双客户端结果展示与历史记录</a:t>
            </a:r>
            <a:endParaRPr lang="en-US" sz="1600" b="0" i="0" u="none" strike="noStrike">
              <a:solidFill>
                <a:srgbClr val="3C46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3C7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项目成果与总结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517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1E3C7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2032000"/>
            <a:ext cx="1016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3C46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完整B/S+C/S双客户端可运行demo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3C46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覆盖4个课程技术方向，满足要求</a:t>
            </a:r>
            <a:endParaRPr lang="en-US" sz="1600" b="0" i="0" u="none" strike="noStrike">
              <a:solidFill>
                <a:srgbClr val="3C46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3C46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18个RESTful API接口，SQLite数据持久化</a:t>
            </a:r>
            <a:endParaRPr lang="en-US" sz="1600" b="0" i="0" u="none" strike="noStrike">
              <a:solidFill>
                <a:srgbClr val="3C46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3C46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完整项目文档：选题说明、方案设计、需求规格、设计报告</a:t>
            </a:r>
            <a:endParaRPr lang="en-US" sz="1600" b="0" i="0" u="none" strike="noStrike">
              <a:solidFill>
                <a:srgbClr val="3C46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4953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1" i="0" u="none" strike="noStrike">
                <a:solidFill>
                  <a:srgbClr val="3C46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展望：</a:t>
            </a:r>
            <a:r>
              <a:rPr lang="en-US" sz="1600" b="0" i="0" u="none" strike="noStrike">
                <a:solidFill>
                  <a:srgbClr val="3C46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后续可接入真实工业数据集，尝试深度学习模型，部署到云服务器实现多用户远程访问。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C7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794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感谢各位老师聆听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4064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敬请批评指正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879</Words>
  <Application>WPS 演示</Application>
  <PresentationFormat/>
  <Paragraphs>96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WPS_1694443816</cp:lastModifiedBy>
  <cp:revision>1</cp:revision>
  <dcterms:created xsi:type="dcterms:W3CDTF">2026-09-20T14:04:27Z</dcterms:created>
  <dcterms:modified xsi:type="dcterms:W3CDTF">2026-09-20T14:04:27Z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B2661679C25B44929714FA1FE238988F_13</vt:lpwstr>
  </property>
  <property fmtid="{D5CDD505-2E9C-101B-9397-08002B2CF9AE}" pid="3" name="KSOProductBuildVer">
    <vt:lpwstr>2052-12.1.0.28505</vt:lpwstr>
  </property>
</Properties>
</file>