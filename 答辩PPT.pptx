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各位老师好，我答辩的题目是《基于振动信号分析的旋转机械轴承智能故障诊断系统》。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这个系统综合运用了智能感知、特征工程、机器学习和预测性维护四个技术方向，实现了轴承故障的自动识别和健康度评估。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下面我从研究背景、系统方案、核心算法、系统实现、测试结果和总结展望六个方面进行汇报。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我的汇报分为四个部分：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第一部分是研究背景与问题提出，介绍轴承故障诊断的工程意义。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第二部分是系统方案与技术路线，介绍整体架构和技术选型。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第三部分是核心算法与系统实现，详细介绍四个算法模块的设计。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第四部分是测试结果与总结展望，展示实验结果并总结项目。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轴承是旋转机械的核心部件，故障率占比超过30%，突发故障可能导致整条生产线停机。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传统方法主要依赖人工巡检和专家经验，效率低、主观性强，难以实现实时自动化诊断。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因此，本项目的核心问题是：如何利用振动信号与人工智能技术，实现轴承故障的自动识别、精准分类、健康评估与异常预警。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系统采用B/S架构，分为四层：表示层是浏览器前端，应用层是Flask后端API，算法层是特征提取与故障诊断模块，数据层是SQLite数据库。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技术路线分为五步：振动信号采集输入、信号预处理、41维特征提取、故障分类与健康评估、可视化展示与历史记录。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技术栈使用Python + Flask + scikit-learn + SQLite + ECharts，轻量级、易部署、易扩展。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核心算法分为四个模块：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第一是信号预处理，包括小波降噪、带通滤波、3σ异常值去除和归一化分帧。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第二是特征提取，提取41维特征，包括时域16个、频域13个、时频域9个和包络谱3个，涵盖峭度、峰值因子、RMS等关键指标。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第三是故障分类，支持SVM、随机森林、KNN、决策树和GBDT五种模型，通过5折交叉验证自动选择最优模型。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第四是异常检测，结合SPC控制图和孤立森林，给出0-100分的健康度评分和5级健康等级。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系统实现了五大功能模块：仪表盘、在线诊断、数据管理、模型管理和历史记录。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仪表盘展示核心指标总览和故障分布统计；在线诊断支持上传振动信号，一键完成智能诊断和波形频谱可视化。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数据管理支持数据集上传预览和类别统计；模型管理支持多模型对比训练和特征重要性分析；历史记录支持诊断记录查询和详情追溯。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核心诊断流程是：上传信号→自动预处理与特征提取→故障分类与置信度→健康度评分与建议，全程自动化。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测试使用的数据集共1200条样本，分为正常、内圈故障、外圈故障、滚动体故障4类，每类300条，按7:3划分训练集和测试集。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我们对比了5种机器学习模型，其中随机森林表现最优，准确率达到99.2%，F1分数99.1%，5折交叉验证准确率98.5%。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核心结论：随机森林模型分类效果最好，4类故障识别准确，健康度评分与故障严重程度正相关，单条诊断响应时间小于2秒，满足实时性要求。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最后做一下总结和展望。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本项目完成了B/S架构的轴承智能故障诊断系统，覆盖了课程要求的4大技术方向：智能感知与信号处理、特征工程与模式识别、机器学习与智能诊断、异常检测与预测性维护。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系统实现了41维特征提取和5种分类模型的对比，随机森林模型准确率达到99.2%，同时支持健康度评估和异常预警。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未来可以从几个方向继续改进：引入深度学习模型提升泛化能力，扩展多工况数据集，实现边缘部署和实时监测，以及接入传感器自动采集数据和剩余寿命预测。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我的汇报到此结束，感谢各位老师的聆听，敬请批评指正。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制造智能技术 · 课程设计答辩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基于振动信号分析的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旋转机械轴承智能故障诊断系统</a:t>
            </a:r>
            <a:endParaRPr lang="en-US" sz="4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17188">
            <a:off x="1016016" y="4565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482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8C6D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智能感知 · 特征工程 · 机器学习 · 预测性维护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159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86000" y="21590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研究背景与问题提出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667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轴承故障诊断的工程意义与现有方法局限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329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556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35560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系统方案与技术路线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4064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B/S架构设计、技术选型与整体技术路线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469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4953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86000" y="49530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核心算法与系统实现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5461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信号预处理、41维特征提取、5种分类模型、异常检测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608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8C6D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6350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86000" y="6350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测试结果与总结展望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研究背景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轴承故障诊断的工程意义与问题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189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286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为什么重要？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558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33000"/>
              </a:lnSpc>
              <a:buClr>
                <a:srgbClr val="465667"/>
              </a:buClr>
              <a:buChar char="•"/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轴承是旋转机械的核心部件，故障率占比超过30%</a:t>
            </a:r>
            <a:endParaRPr lang="en-US" sz="1100"/>
          </a:p>
          <a:p>
            <a:pPr marL="190500" indent="-1905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突发故障可能导致整条生产线停机，造成巨大经济损失</a:t>
            </a:r>
            <a:endParaRPr lang="en-US" sz="15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预测性维护可降低维修成本20%-40%</a:t>
            </a:r>
            <a:endParaRPr lang="en-US" sz="15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现有方法的局限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20700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33000"/>
              </a:lnSpc>
              <a:buClr>
                <a:srgbClr val="465667"/>
              </a:buClr>
              <a:buChar char="•"/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人工巡检效率低、主观性强</a:t>
            </a:r>
            <a:endParaRPr lang="en-US" sz="1100"/>
          </a:p>
          <a:p>
            <a:pPr marL="190500" indent="-1905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传统信号处理依赖专家经验</a:t>
            </a:r>
            <a:endParaRPr lang="en-US" sz="15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难以实现实时、自动化、规模化诊断</a:t>
            </a:r>
            <a:endParaRPr lang="en-US" sz="15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366000" y="2286000"/>
            <a:ext cx="3810000" cy="4191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747000" y="2667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57290">
            <a:off x="7747053" y="3295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7747000" y="3683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如何利用振动信号与人工智能技术，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实现轴承故障的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自动识别、精准分类、健康评估与异常预警</a:t>
            </a: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系统方案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B/S架构与整体技术路线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189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28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技术架构分层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826000" cy="635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294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表示层 · 浏览器前端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556000"/>
            <a:ext cx="4826000" cy="6350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70000" y="3708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 · Flask后端API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4826000" cy="6350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70000" y="447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算法层 · 特征提取与故障诊断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080000"/>
            <a:ext cx="4826000" cy="635000"/>
          </a:xfrm>
          <a:prstGeom prst="roundRect">
            <a:avLst>
              <a:gd name="adj" fmla="val 0"/>
            </a:avLst>
          </a:prstGeom>
          <a:solidFill>
            <a:srgbClr val="B8C6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70000" y="523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 · SQLite数据库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921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振动信号采集与输入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342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信号预处理（降噪/滤波/归一化）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3937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41维特征提取（时域/频域/时频）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445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故障分类与健康度评估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4953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可视化展示与历史记录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715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技术栈：Python + Flask + scikit-learn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 + ECharts + 原生JavaScript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核心算法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四大算法模块设计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189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286000"/>
            <a:ext cx="482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476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信号预处理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921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小波降噪（db4小波）</a:t>
            </a:r>
            <a:endParaRPr lang="en-US" sz="1100"/>
          </a:p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带通滤波 + 3σ异常值去除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标准化归一化与分帧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286000"/>
            <a:ext cx="482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604000" y="2476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特征提取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921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41维特征：时域16 + 频域13</a:t>
            </a:r>
            <a:endParaRPr lang="en-US" sz="1100"/>
          </a:p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时频域9 + 包络谱3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含峭度、峰值因子、RMS等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482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270000" y="4635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故障分类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5080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5种模型：SVM / 随机森林 / KNN</a:t>
            </a:r>
            <a:endParaRPr lang="en-US" sz="1100"/>
          </a:p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决策树 / GBDT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5折交叉验证，自动选最优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4445000"/>
            <a:ext cx="482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8C6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4635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异常检测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5080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SPC控制图 + 孤立森林</a:t>
            </a:r>
            <a:endParaRPr lang="en-US" sz="1100"/>
          </a:p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健康度评分（0-100分）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33000"/>
              </a:lnSpc>
              <a:buClr>
                <a:srgbClr val="465667"/>
              </a:buClr>
              <a:buChar char="•"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5级健康等级 + 退化趋势预测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系统实现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B/S系统五大功能模块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189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286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仪表盘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核心指标总览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故障分布统计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健康度趋势图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810000" y="2286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在线诊断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0" y="2794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上传振动信号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一键智能诊断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波形/频谱可视化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2286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数据管理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794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数据集上传预览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样本类别统计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数据格式校验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064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模型管理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572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多模型对比训练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准确率指标评估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特征重要性分析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810000" y="4064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历史记录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10000" y="4572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诊断记录查询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故障类型筛选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详情追溯查看</a:t>
            </a:r>
            <a:endParaRPr lang="en-US" sz="13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366000" y="3810000"/>
            <a:ext cx="3810000" cy="2286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747000" y="406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诊断流程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747000" y="4572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上传信号文件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自动预处理与特征提取</a:t>
            </a:r>
            <a:endParaRPr lang="en-US" sz="13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故障分类与置信度</a:t>
            </a:r>
            <a:endParaRPr lang="en-US" sz="13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健康度评分与建议</a:t>
            </a:r>
            <a:endParaRPr lang="en-US" sz="13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· 测试结果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模型训练与诊断效果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189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28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数据集说明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42000"/>
              </a:lnSpc>
              <a:buClr>
                <a:srgbClr val="465667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共1200条样本，每条1024个采样点</a:t>
            </a:r>
            <a:endParaRPr lang="en-US" sz="1100"/>
          </a:p>
          <a:p>
            <a:pPr marL="177800" indent="-177800" algn="l">
              <a:lnSpc>
                <a:spcPct val="142000"/>
              </a:lnSpc>
              <a:buClr>
                <a:srgbClr val="465667"/>
              </a:buClr>
              <a:buChar char="•"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4类状态：正常 / 内圈故障 / 外圈故障 / 滚动体故障</a:t>
            </a:r>
            <a:endParaRPr lang="en-US" sz="14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42000"/>
              </a:lnSpc>
              <a:buClr>
                <a:srgbClr val="465667"/>
              </a:buClr>
              <a:buChar char="•"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按7:3划分训练集与测试集</a:t>
            </a:r>
            <a:endParaRPr lang="en-US" sz="1400" b="0" i="0" u="none" strike="noStrike">
              <a:solidFill>
                <a:srgbClr val="4656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4318000"/>
          <a:ext cx="4826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1016000"/>
                <a:gridCol w="1016000"/>
                <a:gridCol w="1143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准确率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F1分数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交叉验证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随机森林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C9A6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99.2%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99.1%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98.5%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GBDT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98.8%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98.7%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98.2%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SVM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97.5%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97.3%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96.8%</a:t>
                      </a:r>
                      <a:endParaRPr lang="en-US" sz="1100"/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KNN</a:t>
                      </a:r>
                      <a:endParaRPr lang="en-US" sz="1100"/>
                    </a:p>
                  </a:txBody>
                  <a:tcPr marL="101600" marR="101600" marT="76200" marB="762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96.1%</a:t>
                      </a:r>
                      <a:endParaRPr lang="en-US" sz="1100"/>
                    </a:p>
                  </a:txBody>
                  <a:tcPr marL="101600" marR="101600" marT="76200" marB="762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95.9%</a:t>
                      </a:r>
                      <a:endParaRPr lang="en-US" sz="1100"/>
                    </a:p>
                  </a:txBody>
                  <a:tcPr marL="101600" marR="101600" marT="76200" marB="762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95.5%</a:t>
                      </a:r>
                      <a:endParaRPr lang="en-US" sz="1100"/>
                    </a:p>
                  </a:txBody>
                  <a:tcPr marL="101600" marR="101600" marT="76200" marB="762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6604000" y="2286000"/>
            <a:ext cx="4572000" cy="4064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985000" y="266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57290">
            <a:off x="6985053" y="3168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985000" y="3556000"/>
            <a:ext cx="381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随机森林表现最优，准确率达 </a:t>
            </a:r>
            <a:r>
              <a:rPr lang="en-US" sz="14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99.2%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4类故障分类效果良好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健康度评分与故障严重程度正相关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单条诊断响应时间小于2秒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·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项目总结与未来展望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69">
            <a:off x="1016040" y="189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228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完成B/S架构智能诊断系统</a:t>
            </a:r>
            <a:endParaRPr lang="en-US" sz="1100"/>
          </a:p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覆盖4大课程技术方向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41维特征 + 5种分类模型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随机森林准确率达99.2%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支持健康度评估与异常预警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04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7940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引入深度学习模型（CNN/LSTM）</a:t>
            </a:r>
            <a:endParaRPr lang="en-US" sz="1100"/>
          </a:p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扩展多工况、多转速泛化能力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边缘部署与实时在线监测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接入传感器实现数据自动采集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-190500" algn="l">
              <a:lnSpc>
                <a:spcPct val="150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设备剩余寿命预测（RUL）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22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感谢各位老师的聆听 · 敬请批评指正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</Words>
  <Application>WPS 演示</Application>
  <PresentationFormat/>
  <Paragraphs>230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WPS_1694443816</cp:lastModifiedBy>
  <cp:revision>1</cp:revision>
  <dcterms:created xsi:type="dcterms:W3CDTF">2026-09-20T10:02:27Z</dcterms:created>
  <dcterms:modified xsi:type="dcterms:W3CDTF">2026-09-20T10:02:27Z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2EC4189CD8F1441584F62DF7E2CECAD7_13</vt:lpwstr>
  </property>
  <property fmtid="{D5CDD505-2E9C-101B-9397-08002B2CF9AE}" pid="3" name="KSOProductBuildVer">
    <vt:lpwstr>2052-12.1.0.28505</vt:lpwstr>
  </property>
</Properties>
</file>